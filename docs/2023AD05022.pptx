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16"/>
  </p:notesMasterIdLst>
  <p:sldIdLst>
    <p:sldId id="256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Host Grotesk Medium" panose="020B0604020202020204" charset="0"/>
      <p:regular r:id="rId17"/>
      <p:bold r:id="rId18"/>
      <p:italic r:id="rId19"/>
      <p:boldItalic r:id="rId20"/>
    </p:embeddedFont>
    <p:embeddedFont>
      <p:font typeface="Neue Haas Grotesk Text Pro" panose="020F0502020204030204" pitchFamily="34" charset="0"/>
      <p:regular r:id="rId21"/>
      <p:bold r:id="rId22"/>
    </p:embeddedFont>
    <p:embeddedFont>
      <p:font typeface="Roboto" panose="02000000000000000000" pitchFamily="2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gMBU6oIh2hjEoJVGHYYf+vQVuw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8D6EE0C-4979-4748-9512-9D37684333B1}">
  <a:tblStyle styleId="{28D6EE0C-4979-4748-9512-9D37684333B1}" styleName="Table_0">
    <a:wholeTbl>
      <a:tcTxStyle b="off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6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6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/>
      </a:tcStyle>
    </a:seCell>
    <a:swCell>
      <a:tcTxStyle b="on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/>
      </a:tcStyle>
    </a:swCell>
    <a:firstRow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A181B35-9339-4F95-AE63-A99D65271CC2}" styleName="Table_1">
    <a:wholeTbl>
      <a:tcTxStyle b="off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6E6E6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6E6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/>
      </a:tcStyle>
    </a:seCell>
    <a:swCell>
      <a:tcTxStyle b="on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/>
      </a:tcStyle>
    </a:swCell>
    <a:firstRow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497" autoAdjust="0"/>
  </p:normalViewPr>
  <p:slideViewPr>
    <p:cSldViewPr snapToGrid="0">
      <p:cViewPr varScale="1">
        <p:scale>
          <a:sx n="64" d="100"/>
          <a:sy n="64" d="100"/>
        </p:scale>
        <p:origin x="139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Lack of Surveillance-Oriented </a:t>
            </a:r>
            <a:r>
              <a:rPr lang="en-US" b="1" dirty="0" err="1"/>
              <a:t>VideoRAG</a:t>
            </a:r>
            <a:r>
              <a:rPr lang="en-US" b="1" dirty="0"/>
              <a:t> Systems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Current </a:t>
            </a:r>
            <a:r>
              <a:rPr lang="en-US" dirty="0" err="1"/>
              <a:t>VideoRAG</a:t>
            </a:r>
            <a:r>
              <a:rPr lang="en-US" dirty="0"/>
              <a:t> approaches are designed for open-domain videos and do not account for the characteristics of surveillance data such as long duration, sparse events, and subtle anomalies.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Absence of Multi-Stage Retrieval Mechanisms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Most systems rely on a single retrieval step, which often leads to irrelevant or incomplete results.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Limited Temporal Awareness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Existing methods do not explicitly exploit temporal continuity or neighborhood consistency across video segments.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Insufficient Support for Image-Based Queries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Retrieval performance significantly degrades for cropped or partial image inputs, which are common in forensic investigations.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Weak Integration Between Detection and Generation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Anomaly detection and language-based reasoning are typically treated as separate tasks, limiting the system's interpretability and usability.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7" name="Google Shape;37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5" name="Google Shape;38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Contextual Integration (CI) - Factual correctness </a:t>
            </a:r>
            <a:r>
              <a:rPr lang="en-IN" dirty="0" err="1"/>
              <a:t>w.r.t.</a:t>
            </a:r>
            <a:r>
              <a:rPr lang="en-IN" dirty="0"/>
              <a:t> video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Detail Orientation (DO) - Completeness and specificity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Contextual Understanding (CU) - Alignment with scene intent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Temporal Understanding (TU) - Correct ordering and causality</a:t>
            </a:r>
            <a:endParaRPr dirty="0"/>
          </a:p>
        </p:txBody>
      </p:sp>
      <p:sp>
        <p:nvSpPr>
          <p:cNvPr id="464" name="Google Shape;4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hoto 1">
  <p:cSld name="Title, Photo 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  <a:defRPr sz="4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8" name="Google Shape;18;p1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2901" y="343038"/>
            <a:ext cx="11506200" cy="4792766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/>
            </a:stretch>
          </a:blipFill>
          <a:ln>
            <a:noFill/>
          </a:ln>
        </p:spPr>
      </p:pic>
      <p:sp>
        <p:nvSpPr>
          <p:cNvPr id="19" name="Google Shape;19;p16"/>
          <p:cNvSpPr txBox="1">
            <a:spLocks noGrp="1"/>
          </p:cNvSpPr>
          <p:nvPr>
            <p:ph type="dt" idx="10"/>
          </p:nvPr>
        </p:nvSpPr>
        <p:spPr>
          <a:xfrm>
            <a:off x="137160" y="651967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ftr" idx="11"/>
          </p:nvPr>
        </p:nvSpPr>
        <p:spPr>
          <a:xfrm>
            <a:off x="8876521" y="651967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sldNum" idx="12"/>
          </p:nvPr>
        </p:nvSpPr>
        <p:spPr>
          <a:xfrm>
            <a:off x="11632162" y="651967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Photo">
  <p:cSld name="Agenda Photo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0" name="Google Shape;30;p1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2901" y="345109"/>
            <a:ext cx="6714969" cy="6163508"/>
          </a:xfrm>
          <a:prstGeom prst="rect">
            <a:avLst/>
          </a:prstGeom>
          <a:blipFill rotWithShape="1">
            <a:blip r:embed="rId2">
              <a:alphaModFix amt="65000"/>
            </a:blip>
            <a:stretch>
              <a:fillRect/>
            </a:stretch>
          </a:blipFill>
          <a:ln>
            <a:noFill/>
          </a:ln>
        </p:spPr>
      </p:pic>
      <p:sp>
        <p:nvSpPr>
          <p:cNvPr id="31" name="Google Shape;31;p17"/>
          <p:cNvSpPr txBox="1">
            <a:spLocks noGrp="1"/>
          </p:cNvSpPr>
          <p:nvPr>
            <p:ph type="body" idx="1"/>
          </p:nvPr>
        </p:nvSpPr>
        <p:spPr>
          <a:xfrm>
            <a:off x="7644384" y="2896616"/>
            <a:ext cx="4023360" cy="3364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8">
  <p:cSld name="Title, Content Photo 8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 txBox="1"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1"/>
          </p:nvPr>
        </p:nvSpPr>
        <p:spPr>
          <a:xfrm>
            <a:off x="429766" y="1380744"/>
            <a:ext cx="4573413" cy="498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1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737594" y="342900"/>
            <a:ext cx="6111507" cy="6172338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1" type="obj">
  <p:cSld name="OBJEC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 2">
  <p:cSld name="Conclusion 2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429768" y="3622673"/>
            <a:ext cx="7370064" cy="2231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hoto 1">
  <p:cSld name="Title, Photo 1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  <a:defRPr sz="4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7" name="Google Shape;57;p1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2901" y="343038"/>
            <a:ext cx="11506200" cy="4792766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/>
            </a:stretch>
          </a:blipFill>
          <a:ln>
            <a:noFill/>
          </a:ln>
        </p:spPr>
      </p:pic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137160" y="6519672"/>
            <a:ext cx="349431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8876521" y="6519672"/>
            <a:ext cx="280540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11632162" y="6519672"/>
            <a:ext cx="42920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hoto 2">
  <p:cSld name="Title, Photo 2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4" name="Google Shape;64;p21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591348" y="343038"/>
            <a:ext cx="6257031" cy="61722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/>
            </a:stretch>
          </a:blipFill>
          <a:ln>
            <a:noFill/>
          </a:ln>
        </p:spPr>
      </p:pic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hoto 3">
  <p:cSld name="Title, Photo 3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600"/>
              <a:buFont typeface="Arial"/>
              <a:buNone/>
              <a:defRPr sz="6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2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6720113" y="342900"/>
            <a:ext cx="5131133" cy="61722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/>
            </a:stretch>
          </a:blipFill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Photo 4">
  <p:cSld name="Title, Photo 4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200"/>
              <a:buFont typeface="Arial"/>
              <a:buNone/>
              <a:defRPr sz="52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78" name="Google Shape;78;p23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7472" y="343038"/>
            <a:ext cx="6257031" cy="6172200"/>
          </a:xfrm>
          <a:prstGeom prst="rect">
            <a:avLst/>
          </a:prstGeom>
          <a:blipFill rotWithShape="1">
            <a:blip r:embed="rId2">
              <a:alphaModFix amt="70000"/>
            </a:blip>
            <a:stretch>
              <a:fillRect/>
            </a:stretch>
          </a:blipFill>
          <a:ln>
            <a:noFill/>
          </a:ln>
        </p:spPr>
      </p:pic>
      <p:sp>
        <p:nvSpPr>
          <p:cNvPr id="79" name="Google Shape;79;p23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1" type="title">
  <p:cSld name="TITLE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Font typeface="Arial"/>
              <a:buNone/>
              <a:defRPr sz="96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4"/>
          <p:cNvSpPr txBox="1"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24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2">
  <p:cSld name="Title 2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5"/>
          <p:cNvSpPr txBox="1"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Arial"/>
              <a:buNone/>
              <a:defRPr sz="5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1" name="Google Shape;91;p25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5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5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3">
  <p:cSld name="Title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 txBox="1"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500"/>
              <a:buFont typeface="Arial"/>
              <a:buNone/>
              <a:defRPr sz="125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6"/>
          <p:cNvSpPr txBox="1"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lvl="2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lvl="3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lvl="4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6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6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F4D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Arial"/>
              <a:buNone/>
              <a:defRPr sz="8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8"/>
          <p:cNvSpPr txBox="1">
            <a:spLocks noGrp="1"/>
          </p:cNvSpPr>
          <p:nvPr>
            <p:ph type="body" idx="1"/>
          </p:nvPr>
        </p:nvSpPr>
        <p:spPr>
          <a:xfrm>
            <a:off x="5998464" y="2423160"/>
            <a:ext cx="548640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2">
  <p:cSld name="Title, Content 2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9"/>
          <p:cNvSpPr txBox="1"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9"/>
          <p:cNvSpPr txBox="1">
            <a:spLocks noGrp="1"/>
          </p:cNvSpPr>
          <p:nvPr>
            <p:ph type="body" idx="1"/>
          </p:nvPr>
        </p:nvSpPr>
        <p:spPr>
          <a:xfrm>
            <a:off x="6273800" y="2478024"/>
            <a:ext cx="4325112" cy="2459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29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9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9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3">
  <p:cSld name="Title, Content 3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0"/>
          <p:cNvSpPr txBox="1">
            <a:spLocks noGrp="1"/>
          </p:cNvSpPr>
          <p:nvPr>
            <p:ph type="body" idx="1"/>
          </p:nvPr>
        </p:nvSpPr>
        <p:spPr>
          <a:xfrm>
            <a:off x="5422392" y="2039112"/>
            <a:ext cx="5047488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0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0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0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4">
  <p:cSld name="Title, Content 4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1"/>
          <p:cNvSpPr txBox="1"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1"/>
          <p:cNvSpPr txBox="1">
            <a:spLocks noGrp="1"/>
          </p:cNvSpPr>
          <p:nvPr>
            <p:ph type="body" idx="1"/>
          </p:nvPr>
        </p:nvSpPr>
        <p:spPr>
          <a:xfrm>
            <a:off x="5422392" y="1600200"/>
            <a:ext cx="5788152" cy="4636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1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1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1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5">
  <p:cSld name="Title, Content 5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2"/>
          <p:cNvSpPr txBox="1"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2"/>
          <p:cNvSpPr txBox="1">
            <a:spLocks noGrp="1"/>
          </p:cNvSpPr>
          <p:nvPr>
            <p:ph type="body" idx="1"/>
          </p:nvPr>
        </p:nvSpPr>
        <p:spPr>
          <a:xfrm>
            <a:off x="5422392" y="640080"/>
            <a:ext cx="5971032" cy="5724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32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2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6">
  <p:cSld name="Title, Content 6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3"/>
          <p:cNvSpPr txBox="1"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3"/>
          <p:cNvSpPr txBox="1">
            <a:spLocks noGrp="1"/>
          </p:cNvSpPr>
          <p:nvPr>
            <p:ph type="body" idx="1"/>
          </p:nvPr>
        </p:nvSpPr>
        <p:spPr>
          <a:xfrm>
            <a:off x="4425696" y="640080"/>
            <a:ext cx="7159752" cy="571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3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33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">
  <p:cSld name="Title, Content Photo 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 txBox="1"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4" name="Google Shape;144;p34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2900" y="342900"/>
            <a:ext cx="4501152" cy="61722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145" name="Google Shape;145;p34"/>
          <p:cNvSpPr txBox="1">
            <a:spLocks noGrp="1"/>
          </p:cNvSpPr>
          <p:nvPr>
            <p:ph type="body" idx="1"/>
          </p:nvPr>
        </p:nvSpPr>
        <p:spPr>
          <a:xfrm>
            <a:off x="5550408" y="1828800"/>
            <a:ext cx="6035040" cy="448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34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2">
  <p:cSld name="Title, Content Photo 2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5"/>
          <p:cNvSpPr txBox="1"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body" idx="1"/>
          </p:nvPr>
        </p:nvSpPr>
        <p:spPr>
          <a:xfrm>
            <a:off x="429768" y="1828800"/>
            <a:ext cx="6135624" cy="448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35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3" name="Google Shape;153;p3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7353304" y="352327"/>
            <a:ext cx="4495799" cy="61722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154" name="Google Shape;154;p35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5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3">
  <p:cSld name="Title, Content Photo 3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8" name="Google Shape;158;p3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39373" y="344424"/>
            <a:ext cx="3808553" cy="61722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159" name="Google Shape;159;p36"/>
          <p:cNvSpPr txBox="1">
            <a:spLocks noGrp="1"/>
          </p:cNvSpPr>
          <p:nvPr>
            <p:ph type="body" idx="1"/>
          </p:nvPr>
        </p:nvSpPr>
        <p:spPr>
          <a:xfrm>
            <a:off x="4820076" y="1380744"/>
            <a:ext cx="6766560" cy="498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6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6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4">
  <p:cSld name="Title, Content Photo 4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7"/>
          <p:cNvSpPr txBox="1"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7"/>
          <p:cNvSpPr txBox="1">
            <a:spLocks noGrp="1"/>
          </p:cNvSpPr>
          <p:nvPr>
            <p:ph type="body" idx="1"/>
          </p:nvPr>
        </p:nvSpPr>
        <p:spPr>
          <a:xfrm>
            <a:off x="429768" y="1380744"/>
            <a:ext cx="6858000" cy="498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37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7" name="Google Shape;167;p3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8046768" y="344424"/>
            <a:ext cx="3808553" cy="61722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168" name="Google Shape;168;p37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7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5">
  <p:cSld name="Title, Content Photo 5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2" name="Google Shape;172;p3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1522" y="342902"/>
            <a:ext cx="6249778" cy="6172343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173" name="Google Shape;173;p38"/>
          <p:cNvSpPr txBox="1">
            <a:spLocks noGrp="1"/>
          </p:cNvSpPr>
          <p:nvPr>
            <p:ph type="body" idx="1"/>
          </p:nvPr>
        </p:nvSpPr>
        <p:spPr>
          <a:xfrm>
            <a:off x="7196328" y="2276856"/>
            <a:ext cx="43891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8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8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6">
  <p:cSld name="Title, Content Photo 6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9"/>
          <p:cNvSpPr txBox="1"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39"/>
          <p:cNvSpPr txBox="1">
            <a:spLocks noGrp="1"/>
          </p:cNvSpPr>
          <p:nvPr>
            <p:ph type="body" idx="1"/>
          </p:nvPr>
        </p:nvSpPr>
        <p:spPr>
          <a:xfrm>
            <a:off x="429767" y="2276856"/>
            <a:ext cx="448056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9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1" name="Google Shape;181;p39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737594" y="342900"/>
            <a:ext cx="6111507" cy="6172338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182" name="Google Shape;182;p39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39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7">
  <p:cSld name="Title, Content Photo 7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0"/>
          <p:cNvSpPr txBox="1"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40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1522" y="342902"/>
            <a:ext cx="6249778" cy="6172343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187" name="Google Shape;187;p40"/>
          <p:cNvSpPr txBox="1">
            <a:spLocks noGrp="1"/>
          </p:cNvSpPr>
          <p:nvPr>
            <p:ph type="body" idx="1"/>
          </p:nvPr>
        </p:nvSpPr>
        <p:spPr>
          <a:xfrm>
            <a:off x="7196328" y="1380744"/>
            <a:ext cx="4389120" cy="4983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40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40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0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9">
  <p:cSld name="Title, Content Photo 9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1"/>
          <p:cNvSpPr txBox="1"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3" name="Google Shape;193;p41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2900" y="342901"/>
            <a:ext cx="7391400" cy="61722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194" name="Google Shape;194;p41"/>
          <p:cNvSpPr txBox="1">
            <a:spLocks noGrp="1"/>
          </p:cNvSpPr>
          <p:nvPr>
            <p:ph type="body" idx="1"/>
          </p:nvPr>
        </p:nvSpPr>
        <p:spPr>
          <a:xfrm>
            <a:off x="8321040" y="2276856"/>
            <a:ext cx="3401568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5" name="Google Shape;195;p41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41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1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0">
  <p:cSld name="Title, Content Photo 10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2"/>
          <p:cNvSpPr txBox="1"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0" name="Google Shape;200;p42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4502843" y="342901"/>
            <a:ext cx="7346257" cy="61722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201" name="Google Shape;201;p42"/>
          <p:cNvSpPr txBox="1">
            <a:spLocks noGrp="1"/>
          </p:cNvSpPr>
          <p:nvPr>
            <p:ph type="body" idx="1"/>
          </p:nvPr>
        </p:nvSpPr>
        <p:spPr>
          <a:xfrm>
            <a:off x="429768" y="2276856"/>
            <a:ext cx="3401568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2" name="Google Shape;202;p42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2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2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1">
  <p:cSld name="Title, Content Photo 1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3"/>
          <p:cNvSpPr txBox="1"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7" name="Google Shape;207;p43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42900" y="342901"/>
            <a:ext cx="7391400" cy="6172200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208" name="Google Shape;208;p43"/>
          <p:cNvSpPr txBox="1">
            <a:spLocks noGrp="1"/>
          </p:cNvSpPr>
          <p:nvPr>
            <p:ph type="body" idx="1"/>
          </p:nvPr>
        </p:nvSpPr>
        <p:spPr>
          <a:xfrm>
            <a:off x="8311896" y="3099816"/>
            <a:ext cx="3273552" cy="295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43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3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43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2">
  <p:cSld name="Title, Content Photo 1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4"/>
          <p:cNvSpPr txBox="1"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14" name="Google Shape;214;p44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39373" y="320043"/>
            <a:ext cx="11509730" cy="4404825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215" name="Google Shape;215;p44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44"/>
          <p:cNvSpPr txBox="1">
            <a:spLocks noGrp="1"/>
          </p:cNvSpPr>
          <p:nvPr>
            <p:ph type="body" idx="1"/>
          </p:nvPr>
        </p:nvSpPr>
        <p:spPr>
          <a:xfrm>
            <a:off x="5351928" y="5111854"/>
            <a:ext cx="6400800" cy="138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44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4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3">
  <p:cSld name="Title, Content Photo 13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5"/>
          <p:cNvSpPr txBox="1"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1" name="Google Shape;221;p4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39373" y="320042"/>
            <a:ext cx="11509730" cy="345822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222" name="Google Shape;222;p45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45"/>
          <p:cNvSpPr txBox="1">
            <a:spLocks noGrp="1"/>
          </p:cNvSpPr>
          <p:nvPr>
            <p:ph type="body" idx="1"/>
          </p:nvPr>
        </p:nvSpPr>
        <p:spPr>
          <a:xfrm>
            <a:off x="3977640" y="4162318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45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5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4">
  <p:cSld name="Title, Content Photo 14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46"/>
          <p:cNvSpPr txBox="1"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8" name="Google Shape;228;p4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339373" y="3067414"/>
            <a:ext cx="11509730" cy="3458229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229" name="Google Shape;229;p46"/>
          <p:cNvSpPr txBox="1">
            <a:spLocks noGrp="1"/>
          </p:cNvSpPr>
          <p:nvPr>
            <p:ph type="dt" idx="10"/>
          </p:nvPr>
        </p:nvSpPr>
        <p:spPr>
          <a:xfrm>
            <a:off x="137160" y="6519672"/>
            <a:ext cx="349431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46"/>
          <p:cNvSpPr txBox="1">
            <a:spLocks noGrp="1"/>
          </p:cNvSpPr>
          <p:nvPr>
            <p:ph type="body" idx="1"/>
          </p:nvPr>
        </p:nvSpPr>
        <p:spPr>
          <a:xfrm>
            <a:off x="3977640" y="561425"/>
            <a:ext cx="7772400" cy="224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46"/>
          <p:cNvSpPr txBox="1">
            <a:spLocks noGrp="1"/>
          </p:cNvSpPr>
          <p:nvPr>
            <p:ph type="ftr" idx="11"/>
          </p:nvPr>
        </p:nvSpPr>
        <p:spPr>
          <a:xfrm>
            <a:off x="8876521" y="6519672"/>
            <a:ext cx="2805405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46"/>
          <p:cNvSpPr txBox="1">
            <a:spLocks noGrp="1"/>
          </p:cNvSpPr>
          <p:nvPr>
            <p:ph type="sldNum" idx="12"/>
          </p:nvPr>
        </p:nvSpPr>
        <p:spPr>
          <a:xfrm>
            <a:off x="11632162" y="6519672"/>
            <a:ext cx="429207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5">
  <p:cSld name="Title, Content Photo 15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7"/>
          <p:cNvSpPr txBox="1"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5" name="Google Shape;235;p47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429768" y="1828800"/>
            <a:ext cx="6176399" cy="4425696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236" name="Google Shape;236;p47"/>
          <p:cNvSpPr txBox="1">
            <a:spLocks noGrp="1"/>
          </p:cNvSpPr>
          <p:nvPr>
            <p:ph type="body" idx="1"/>
          </p:nvPr>
        </p:nvSpPr>
        <p:spPr>
          <a:xfrm>
            <a:off x="7287768" y="1828800"/>
            <a:ext cx="4297680" cy="4428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7" name="Google Shape;237;p47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7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7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6">
  <p:cSld name="Title, Content Photo 16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8"/>
          <p:cNvSpPr txBox="1"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2" name="Google Shape;242;p48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10075" y="2293496"/>
            <a:ext cx="4775158" cy="4039043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243" name="Google Shape;243;p48"/>
          <p:cNvSpPr txBox="1">
            <a:spLocks noGrp="1"/>
          </p:cNvSpPr>
          <p:nvPr>
            <p:ph type="body" idx="1"/>
          </p:nvPr>
        </p:nvSpPr>
        <p:spPr>
          <a:xfrm>
            <a:off x="6096000" y="549275"/>
            <a:ext cx="5585925" cy="5783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4" name="Google Shape;244;p48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48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48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Photo 17">
  <p:cSld name="Title, Content Photo 17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9"/>
          <p:cNvSpPr txBox="1"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49" name="Google Shape;249;p49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510075" y="2293494"/>
            <a:ext cx="3666744" cy="4039044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250" name="Google Shape;250;p49"/>
          <p:cNvSpPr txBox="1">
            <a:spLocks noGrp="1"/>
          </p:cNvSpPr>
          <p:nvPr>
            <p:ph type="body" idx="1"/>
          </p:nvPr>
        </p:nvSpPr>
        <p:spPr>
          <a:xfrm>
            <a:off x="5120787" y="549275"/>
            <a:ext cx="6561138" cy="5788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1" name="Google Shape;251;p49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49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9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0"/>
          <p:cNvSpPr txBox="1"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4D48"/>
              </a:buClr>
              <a:buSzPts val="2400"/>
              <a:buFont typeface="Arial"/>
              <a:buNone/>
              <a:defRPr sz="2400">
                <a:solidFill>
                  <a:srgbClr val="2F4D4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50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50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50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50"/>
          <p:cNvSpPr txBox="1">
            <a:spLocks noGrp="1"/>
          </p:cNvSpPr>
          <p:nvPr>
            <p:ph type="body" idx="1"/>
          </p:nvPr>
        </p:nvSpPr>
        <p:spPr>
          <a:xfrm>
            <a:off x="493776" y="786384"/>
            <a:ext cx="112014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2F4D48"/>
              </a:buClr>
              <a:buSzPts val="27800"/>
              <a:buNone/>
              <a:defRPr sz="27800">
                <a:solidFill>
                  <a:srgbClr val="2F4D48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2">
  <p:cSld name="Big Number 2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1"/>
          <p:cNvSpPr txBox="1"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51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51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51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5" name="Google Shape;265;p51"/>
          <p:cNvSpPr txBox="1">
            <a:spLocks noGrp="1"/>
          </p:cNvSpPr>
          <p:nvPr>
            <p:ph type="body" idx="1"/>
          </p:nvPr>
        </p:nvSpPr>
        <p:spPr>
          <a:xfrm>
            <a:off x="493776" y="786384"/>
            <a:ext cx="112014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800"/>
              <a:buNone/>
              <a:defRPr sz="278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3">
  <p:cSld name="Big Number 3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2"/>
          <p:cNvSpPr txBox="1"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F4D48"/>
              </a:buClr>
              <a:buSzPts val="2800"/>
              <a:buFont typeface="Arial"/>
              <a:buNone/>
              <a:defRPr sz="2800">
                <a:solidFill>
                  <a:srgbClr val="2F4D4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52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52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52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52"/>
          <p:cNvSpPr txBox="1">
            <a:spLocks noGrp="1"/>
          </p:cNvSpPr>
          <p:nvPr>
            <p:ph type="body" idx="1"/>
          </p:nvPr>
        </p:nvSpPr>
        <p:spPr>
          <a:xfrm>
            <a:off x="429768" y="603504"/>
            <a:ext cx="112014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4D48"/>
              </a:buClr>
              <a:buSzPts val="27800"/>
              <a:buNone/>
              <a:defRPr sz="27800">
                <a:solidFill>
                  <a:srgbClr val="2F4D48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">
  <p:cSld name="Statement"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3"/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53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53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53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53"/>
          <p:cNvSpPr txBox="1">
            <a:spLocks noGrp="1"/>
          </p:cNvSpPr>
          <p:nvPr>
            <p:ph type="body" idx="1"/>
          </p:nvPr>
        </p:nvSpPr>
        <p:spPr>
          <a:xfrm>
            <a:off x="612648" y="630936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2">
  <p:cSld name="Statement 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4"/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54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54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54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3" name="Google Shape;283;p54"/>
          <p:cNvSpPr txBox="1">
            <a:spLocks noGrp="1"/>
          </p:cNvSpPr>
          <p:nvPr>
            <p:ph type="body" idx="1"/>
          </p:nvPr>
        </p:nvSpPr>
        <p:spPr>
          <a:xfrm>
            <a:off x="612648" y="1929384"/>
            <a:ext cx="8266176" cy="4142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tement 3">
  <p:cSld name="Statement 3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5"/>
          <p:cNvSpPr txBox="1"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55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55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55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9" name="Google Shape;289;p55"/>
          <p:cNvSpPr txBox="1">
            <a:spLocks noGrp="1"/>
          </p:cNvSpPr>
          <p:nvPr>
            <p:ph type="body" idx="1"/>
          </p:nvPr>
        </p:nvSpPr>
        <p:spPr>
          <a:xfrm>
            <a:off x="612648" y="548640"/>
            <a:ext cx="8266176" cy="560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000"/>
              <a:buNone/>
              <a:defRPr sz="5000" b="1"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6"/>
          <p:cNvSpPr txBox="1">
            <a:spLocks noGrp="1"/>
          </p:cNvSpPr>
          <p:nvPr>
            <p:ph type="title"/>
          </p:nvPr>
        </p:nvSpPr>
        <p:spPr>
          <a:xfrm>
            <a:off x="1636776" y="5276088"/>
            <a:ext cx="9061704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6776E"/>
              </a:buClr>
              <a:buSzPts val="2200"/>
              <a:buFont typeface="Arial"/>
              <a:buNone/>
              <a:defRPr sz="2200" b="1">
                <a:solidFill>
                  <a:srgbClr val="46776E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56"/>
          <p:cNvSpPr txBox="1">
            <a:spLocks noGrp="1"/>
          </p:cNvSpPr>
          <p:nvPr>
            <p:ph type="body" idx="1"/>
          </p:nvPr>
        </p:nvSpPr>
        <p:spPr>
          <a:xfrm>
            <a:off x="1499616" y="1828800"/>
            <a:ext cx="9198864" cy="287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56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56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56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Quote 2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7"/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0EDE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7"/>
          <p:cNvSpPr txBox="1">
            <a:spLocks noGrp="1"/>
          </p:cNvSpPr>
          <p:nvPr>
            <p:ph type="title"/>
          </p:nvPr>
        </p:nvSpPr>
        <p:spPr>
          <a:xfrm>
            <a:off x="1801368" y="5120640"/>
            <a:ext cx="854964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57"/>
          <p:cNvSpPr txBox="1">
            <a:spLocks noGrp="1"/>
          </p:cNvSpPr>
          <p:nvPr>
            <p:ph type="body" idx="1"/>
          </p:nvPr>
        </p:nvSpPr>
        <p:spPr>
          <a:xfrm>
            <a:off x="1655064" y="2093976"/>
            <a:ext cx="8695944" cy="2130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57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57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57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3">
  <p:cSld name="Quote 3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8"/>
          <p:cNvSpPr txBox="1">
            <a:spLocks noGrp="1"/>
          </p:cNvSpPr>
          <p:nvPr>
            <p:ph type="title"/>
          </p:nvPr>
        </p:nvSpPr>
        <p:spPr>
          <a:xfrm>
            <a:off x="598556" y="4965192"/>
            <a:ext cx="9450699" cy="128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58"/>
          <p:cNvSpPr txBox="1">
            <a:spLocks noGrp="1"/>
          </p:cNvSpPr>
          <p:nvPr>
            <p:ph type="body" idx="1"/>
          </p:nvPr>
        </p:nvSpPr>
        <p:spPr>
          <a:xfrm>
            <a:off x="429768" y="438912"/>
            <a:ext cx="9619488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58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58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8" name="Google Shape;308;p58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4">
  <p:cSld name="Quote 4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9"/>
          <p:cNvSpPr txBox="1">
            <a:spLocks noGrp="1"/>
          </p:cNvSpPr>
          <p:nvPr>
            <p:ph type="title"/>
          </p:nvPr>
        </p:nvSpPr>
        <p:spPr>
          <a:xfrm>
            <a:off x="598556" y="4965192"/>
            <a:ext cx="9148947" cy="1289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59"/>
          <p:cNvSpPr txBox="1">
            <a:spLocks noGrp="1"/>
          </p:cNvSpPr>
          <p:nvPr>
            <p:ph type="body" idx="1"/>
          </p:nvPr>
        </p:nvSpPr>
        <p:spPr>
          <a:xfrm>
            <a:off x="429768" y="1179576"/>
            <a:ext cx="9317736" cy="3785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59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59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59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0"/>
          <p:cNvSpPr txBox="1"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60"/>
          <p:cNvSpPr txBox="1">
            <a:spLocks noGrp="1"/>
          </p:cNvSpPr>
          <p:nvPr>
            <p:ph type="body" idx="1"/>
          </p:nvPr>
        </p:nvSpPr>
        <p:spPr>
          <a:xfrm>
            <a:off x="430213" y="2020825"/>
            <a:ext cx="5211762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8" name="Google Shape;318;p60"/>
          <p:cNvSpPr txBox="1">
            <a:spLocks noGrp="1"/>
          </p:cNvSpPr>
          <p:nvPr>
            <p:ph type="body" idx="2"/>
          </p:nvPr>
        </p:nvSpPr>
        <p:spPr>
          <a:xfrm>
            <a:off x="6381750" y="2020824"/>
            <a:ext cx="521335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9" name="Google Shape;319;p60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60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60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1"/>
          <p:cNvSpPr txBox="1"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61"/>
          <p:cNvSpPr txBox="1"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5" name="Google Shape;325;p61"/>
          <p:cNvSpPr txBox="1">
            <a:spLocks noGrp="1"/>
          </p:cNvSpPr>
          <p:nvPr>
            <p:ph type="body" idx="2"/>
          </p:nvPr>
        </p:nvSpPr>
        <p:spPr>
          <a:xfrm>
            <a:off x="430213" y="2020888"/>
            <a:ext cx="5211762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6" name="Google Shape;326;p61"/>
          <p:cNvSpPr txBox="1">
            <a:spLocks noGrp="1"/>
          </p:cNvSpPr>
          <p:nvPr>
            <p:ph type="body" idx="3"/>
          </p:nvPr>
        </p:nvSpPr>
        <p:spPr>
          <a:xfrm>
            <a:off x="6382512" y="1380744"/>
            <a:ext cx="5212080" cy="5598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cap="none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7" name="Google Shape;327;p61"/>
          <p:cNvSpPr txBox="1">
            <a:spLocks noGrp="1"/>
          </p:cNvSpPr>
          <p:nvPr>
            <p:ph type="body" idx="4"/>
          </p:nvPr>
        </p:nvSpPr>
        <p:spPr>
          <a:xfrm>
            <a:off x="6381750" y="2020888"/>
            <a:ext cx="521335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8" name="Google Shape;328;p61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61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61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2"/>
          <p:cNvSpPr txBox="1"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62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62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62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3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63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63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4"/>
          <p:cNvSpPr txBox="1"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2" name="Google Shape;342;p64"/>
          <p:cNvSpPr txBox="1">
            <a:spLocks noGrp="1"/>
          </p:cNvSpPr>
          <p:nvPr>
            <p:ph type="body" idx="1"/>
          </p:nvPr>
        </p:nvSpPr>
        <p:spPr>
          <a:xfrm>
            <a:off x="429769" y="2823029"/>
            <a:ext cx="3309608" cy="3481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43" name="Google Shape;343;p64"/>
          <p:cNvSpPr txBox="1">
            <a:spLocks noGrp="1"/>
          </p:cNvSpPr>
          <p:nvPr>
            <p:ph type="body" idx="2"/>
          </p:nvPr>
        </p:nvSpPr>
        <p:spPr>
          <a:xfrm>
            <a:off x="5136995" y="553616"/>
            <a:ext cx="6466741" cy="5752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64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64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64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5"/>
          <p:cNvSpPr txBox="1"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65"/>
          <p:cNvSpPr txBox="1">
            <a:spLocks noGrp="1"/>
          </p:cNvSpPr>
          <p:nvPr>
            <p:ph type="body" idx="1"/>
          </p:nvPr>
        </p:nvSpPr>
        <p:spPr>
          <a:xfrm>
            <a:off x="429767" y="2826137"/>
            <a:ext cx="3310128" cy="343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50" name="Google Shape;350;p6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4502843" y="342901"/>
            <a:ext cx="7346258" cy="6172198"/>
          </a:xfrm>
          <a:prstGeom prst="rect">
            <a:avLst/>
          </a:prstGeom>
          <a:blipFill rotWithShape="1">
            <a:blip r:embed="rId2">
              <a:alphaModFix amt="60000"/>
            </a:blip>
            <a:stretch>
              <a:fillRect/>
            </a:stretch>
          </a:blipFill>
          <a:ln>
            <a:noFill/>
          </a:ln>
        </p:spPr>
      </p:pic>
      <p:sp>
        <p:nvSpPr>
          <p:cNvPr id="351" name="Google Shape;351;p65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65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65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clusion">
  <p:cSld name="Conclusion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6"/>
          <p:cNvSpPr txBox="1"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6" name="Google Shape;356;p66"/>
          <p:cNvSpPr txBox="1">
            <a:spLocks noGrp="1"/>
          </p:cNvSpPr>
          <p:nvPr>
            <p:ph type="body" idx="1"/>
          </p:nvPr>
        </p:nvSpPr>
        <p:spPr>
          <a:xfrm>
            <a:off x="429768" y="3264408"/>
            <a:ext cx="10890374" cy="283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30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7" name="Google Shape;357;p66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8" name="Google Shape;358;p66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9" name="Google Shape;359;p66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9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43.xml"/><Relationship Id="rId47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51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41.xml"/><Relationship Id="rId45" Type="http://schemas.openxmlformats.org/officeDocument/2006/relationships/slideLayout" Target="../slideLayouts/slideLayout46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4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32.xml"/><Relationship Id="rId44" Type="http://schemas.openxmlformats.org/officeDocument/2006/relationships/slideLayout" Target="../slideLayouts/slideLayout45.xml"/><Relationship Id="rId52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44.xml"/><Relationship Id="rId48" Type="http://schemas.openxmlformats.org/officeDocument/2006/relationships/slideLayout" Target="../slideLayouts/slideLayout49.xml"/><Relationship Id="rId8" Type="http://schemas.openxmlformats.org/officeDocument/2006/relationships/slideLayout" Target="../slideLayouts/slideLayout9.xml"/><Relationship Id="rId51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21.xml"/><Relationship Id="rId41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7D3DF"/>
            </a:gs>
            <a:gs pos="44000">
              <a:schemeClr val="dk1"/>
            </a:gs>
            <a:gs pos="77000">
              <a:srgbClr val="121212">
                <a:alpha val="84705"/>
              </a:srgbClr>
            </a:gs>
            <a:gs pos="100000">
              <a:srgbClr val="FEFEFE"/>
            </a:gs>
          </a:gsLst>
          <a:lin ang="54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7D3DF"/>
            </a:gs>
            <a:gs pos="44000">
              <a:schemeClr val="lt1"/>
            </a:gs>
            <a:gs pos="77000">
              <a:srgbClr val="F2F2F2">
                <a:alpha val="84705"/>
              </a:srgbClr>
            </a:gs>
            <a:gs pos="100000">
              <a:srgbClr val="888888"/>
            </a:gs>
          </a:gsLst>
          <a:lin ang="5400000" scaled="0"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dt" idx="10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ftr" idx="11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  <p:sldLayoutId id="2147483687" r:id="rId37"/>
    <p:sldLayoutId id="2147483688" r:id="rId38"/>
    <p:sldLayoutId id="2147483689" r:id="rId39"/>
    <p:sldLayoutId id="2147483690" r:id="rId40"/>
    <p:sldLayoutId id="2147483691" r:id="rId41"/>
    <p:sldLayoutId id="2147483692" r:id="rId42"/>
    <p:sldLayoutId id="2147483693" r:id="rId43"/>
    <p:sldLayoutId id="2147483694" r:id="rId44"/>
    <p:sldLayoutId id="2147483695" r:id="rId45"/>
    <p:sldLayoutId id="2147483696" r:id="rId46"/>
    <p:sldLayoutId id="2147483697" r:id="rId47"/>
    <p:sldLayoutId id="2147483698" r:id="rId48"/>
    <p:sldLayoutId id="2147483699" r:id="rId49"/>
    <p:sldLayoutId id="2147483700" r:id="rId50"/>
    <p:sldLayoutId id="2147483701" r:id="rId5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5.12589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21212">
                <a:alpha val="84705"/>
              </a:srgbClr>
            </a:gs>
            <a:gs pos="68000">
              <a:schemeClr val="dk1"/>
            </a:gs>
            <a:gs pos="100000">
              <a:srgbClr val="A7D3DF"/>
            </a:gs>
          </a:gsLst>
          <a:lin ang="5400000" scaled="0"/>
        </a:gra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"/>
          <p:cNvSpPr txBox="1"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800"/>
              <a:t>RAG Framework for Effective Video query and Understanding</a:t>
            </a:r>
            <a:endParaRPr sz="2800"/>
          </a:p>
        </p:txBody>
      </p:sp>
      <p:sp>
        <p:nvSpPr>
          <p:cNvPr id="365" name="Google Shape;365;p1"/>
          <p:cNvSpPr txBox="1"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Bridging video analytics and semantic reasoning through natural language understanding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/>
          </a:p>
        </p:txBody>
      </p:sp>
      <p:pic>
        <p:nvPicPr>
          <p:cNvPr id="366" name="Google Shape;366;p1" descr="preencoded.png"/>
          <p:cNvPicPr preferRelativeResize="0"/>
          <p:nvPr/>
        </p:nvPicPr>
        <p:blipFill rotWithShape="1">
          <a:blip r:embed="rId3">
            <a:alphaModFix/>
          </a:blip>
          <a:srcRect t="31167" r="1" b="39675"/>
          <a:stretch/>
        </p:blipFill>
        <p:spPr>
          <a:xfrm>
            <a:off x="342901" y="343038"/>
            <a:ext cx="11506200" cy="4792766"/>
          </a:xfrm>
          <a:custGeom>
            <a:avLst/>
            <a:gdLst/>
            <a:ahLst/>
            <a:cxnLst/>
            <a:rect l="l" t="t" r="r" b="b"/>
            <a:pathLst>
              <a:path w="11506200" h="4792766" extrusionOk="0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"/>
          <p:cNvSpPr txBox="1">
            <a:spLocks noGrp="1"/>
          </p:cNvSpPr>
          <p:nvPr>
            <p:ph type="title"/>
          </p:nvPr>
        </p:nvSpPr>
        <p:spPr>
          <a:xfrm>
            <a:off x="528590" y="262675"/>
            <a:ext cx="4023360" cy="1636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372" name="Google Shape;372;p2"/>
          <p:cNvSpPr txBox="1">
            <a:spLocks noGrp="1"/>
          </p:cNvSpPr>
          <p:nvPr>
            <p:ph type="body" idx="1"/>
          </p:nvPr>
        </p:nvSpPr>
        <p:spPr>
          <a:xfrm>
            <a:off x="680869" y="2404247"/>
            <a:ext cx="5661316" cy="3364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Problem &amp; The Need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Gap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Contribution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ost Grotesk Medium"/>
              </a:rPr>
              <a:t>Hierarchical Multimodal Evidence Selection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Image-Based Query Support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Strategy &amp; Results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2286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dirty="0"/>
          </a:p>
        </p:txBody>
      </p:sp>
      <p:pic>
        <p:nvPicPr>
          <p:cNvPr id="373" name="Google Shape;373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1400" y="0"/>
            <a:ext cx="48006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5D95D78-9397-9A1C-C39B-93E9C555D259}"/>
              </a:ext>
            </a:extLst>
          </p:cNvPr>
          <p:cNvSpPr txBox="1">
            <a:spLocks/>
          </p:cNvSpPr>
          <p:nvPr/>
        </p:nvSpPr>
        <p:spPr>
          <a:xfrm>
            <a:off x="607567" y="226568"/>
            <a:ext cx="7681299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The Problem &amp; The Need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3F1CDF-8B96-5859-ADDA-7180DC2BBDFA}"/>
              </a:ext>
            </a:extLst>
          </p:cNvPr>
          <p:cNvSpPr txBox="1"/>
          <p:nvPr/>
        </p:nvSpPr>
        <p:spPr>
          <a:xfrm>
            <a:off x="607567" y="1965124"/>
            <a:ext cx="45994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Problem We Address</a:t>
            </a:r>
          </a:p>
          <a:p>
            <a:pPr>
              <a:buNone/>
            </a:pPr>
            <a:r>
              <a:rPr lang="en-US" dirty="0"/>
              <a:t>Manual surveillance video analysis is slow, error-prone, and non-scalable.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3EBA37-2F70-E6A1-EEF6-B0DA004632B5}"/>
              </a:ext>
            </a:extLst>
          </p:cNvPr>
          <p:cNvSpPr txBox="1"/>
          <p:nvPr/>
        </p:nvSpPr>
        <p:spPr>
          <a:xfrm>
            <a:off x="6434667" y="1965124"/>
            <a:ext cx="459943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Need for an Intelligent Solution</a:t>
            </a:r>
          </a:p>
          <a:p>
            <a:pPr>
              <a:buNone/>
            </a:pPr>
            <a:r>
              <a:rPr lang="en-US" dirty="0"/>
              <a:t>Need a system that can retrieve, reason, and explain — not just detect</a:t>
            </a:r>
          </a:p>
        </p:txBody>
      </p:sp>
      <p:pic>
        <p:nvPicPr>
          <p:cNvPr id="21" name="Graphic 20" descr="Lightbulb with solid fill">
            <a:extLst>
              <a:ext uri="{FF2B5EF4-FFF2-40B4-BE49-F238E27FC236}">
                <a16:creationId xmlns:a16="http://schemas.microsoft.com/office/drawing/2014/main" id="{DA25250C-4725-F2ED-F9C7-9386646B0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37025" y="1294205"/>
            <a:ext cx="594715" cy="594715"/>
          </a:xfrm>
          <a:prstGeom prst="rect">
            <a:avLst/>
          </a:prstGeom>
        </p:spPr>
      </p:pic>
      <p:pic>
        <p:nvPicPr>
          <p:cNvPr id="23" name="Graphic 22" descr="Warning with solid fill">
            <a:extLst>
              <a:ext uri="{FF2B5EF4-FFF2-40B4-BE49-F238E27FC236}">
                <a16:creationId xmlns:a16="http://schemas.microsoft.com/office/drawing/2014/main" id="{D2F51034-2CBB-B107-C5E4-94B87C66D6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9925" y="1294205"/>
            <a:ext cx="594716" cy="59471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F9D5364-3261-DB25-0F4E-5210E4ABE45C}"/>
              </a:ext>
            </a:extLst>
          </p:cNvPr>
          <p:cNvSpPr txBox="1"/>
          <p:nvPr/>
        </p:nvSpPr>
        <p:spPr>
          <a:xfrm>
            <a:off x="607566" y="2892104"/>
            <a:ext cx="4599433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Key challenges: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CCTV systems generate thousands of hours of video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Analysts must manually scan footage, identify anomalies, and correlate events across time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Limitations of existing systems: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Detect anomalies but cannot explain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 not support natural language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Fail on long, untrimmed videos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Result:</a:t>
            </a:r>
            <a:r>
              <a:rPr lang="en-US" dirty="0"/>
              <a:t> High operational cost and delayed incident response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46B338-9449-829B-5A7E-9D6372C31C48}"/>
              </a:ext>
            </a:extLst>
          </p:cNvPr>
          <p:cNvSpPr txBox="1"/>
          <p:nvPr/>
        </p:nvSpPr>
        <p:spPr>
          <a:xfrm>
            <a:off x="6434667" y="2892104"/>
            <a:ext cx="459943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Real-World Pain 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5+ hours to locate a single incident in large CCTV archives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Missed events due to: Sparse anomalies, Weak temporal reasoning, Fragmented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VLMs: Perform poorly on surveillance data, Lack temporal and causal understanding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Experimental Evidence: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Even strong video models fail on cause &amp; result-based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indicates: Retrieval is the bottleneck, not model size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Conclusion:</a:t>
            </a:r>
            <a:r>
              <a:rPr lang="en-US" dirty="0"/>
              <a:t> Need a system that can retrieve, reason, and explain — not just detect</a:t>
            </a:r>
          </a:p>
        </p:txBody>
      </p:sp>
    </p:spTree>
    <p:extLst>
      <p:ext uri="{BB962C8B-B14F-4D97-AF65-F5344CB8AC3E}">
        <p14:creationId xmlns:p14="http://schemas.microsoft.com/office/powerpoint/2010/main" val="424551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"/>
          <p:cNvSpPr txBox="1">
            <a:spLocks noGrp="1"/>
          </p:cNvSpPr>
          <p:nvPr>
            <p:ph type="title"/>
          </p:nvPr>
        </p:nvSpPr>
        <p:spPr>
          <a:xfrm>
            <a:off x="429766" y="493777"/>
            <a:ext cx="4573413" cy="93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b="0">
                <a:latin typeface="Arial"/>
                <a:ea typeface="Arial"/>
                <a:cs typeface="Arial"/>
                <a:sym typeface="Arial"/>
              </a:rPr>
              <a:t>Current Gap</a:t>
            </a:r>
            <a:endParaRPr/>
          </a:p>
        </p:txBody>
      </p:sp>
      <p:sp>
        <p:nvSpPr>
          <p:cNvPr id="380" name="Google Shape;380;p3"/>
          <p:cNvSpPr txBox="1"/>
          <p:nvPr/>
        </p:nvSpPr>
        <p:spPr>
          <a:xfrm>
            <a:off x="429766" y="1969476"/>
            <a:ext cx="4573413" cy="4394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Weak Integration Between Detection and Generation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Surveillance-Oriented Video RAG Systems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Insufficient Support for Image-Based Queries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Absence of Multi-Stage Retrieval Mechanisms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Temporal Awareness</a:t>
            </a:r>
            <a:endParaRPr/>
          </a:p>
          <a:p>
            <a:pPr marL="228600" marR="0" lvl="0" indent="-1143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3968" r="-1" b="17507"/>
          <a:stretch/>
        </p:blipFill>
        <p:spPr>
          <a:xfrm>
            <a:off x="5737594" y="342900"/>
            <a:ext cx="6111507" cy="617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"/>
          <p:cNvSpPr txBox="1"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Our Contribution </a:t>
            </a:r>
            <a:endParaRPr/>
          </a:p>
        </p:txBody>
      </p:sp>
      <p:sp>
        <p:nvSpPr>
          <p:cNvPr id="388" name="Google Shape;388;p4"/>
          <p:cNvSpPr/>
          <p:nvPr/>
        </p:nvSpPr>
        <p:spPr>
          <a:xfrm>
            <a:off x="489332" y="1606057"/>
            <a:ext cx="5400000" cy="2118747"/>
          </a:xfrm>
          <a:prstGeom prst="roundRect">
            <a:avLst>
              <a:gd name="adj" fmla="val 7992"/>
            </a:avLst>
          </a:prstGeom>
          <a:solidFill>
            <a:srgbClr val="F2F2F2"/>
          </a:solidFill>
          <a:ln w="38100" cap="flat" cmpd="sng">
            <a:solidFill>
              <a:srgbClr val="77B0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Dual-Embedding Multimodal Architecture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 employs separate yet aligned visual and textual embedding spaces, enabling flexible and accurate multimodal retrieval.</a:t>
            </a:r>
            <a:endParaRPr dirty="0"/>
          </a:p>
        </p:txBody>
      </p:sp>
      <p:sp>
        <p:nvSpPr>
          <p:cNvPr id="389" name="Google Shape;389;p4"/>
          <p:cNvSpPr/>
          <p:nvPr/>
        </p:nvSpPr>
        <p:spPr>
          <a:xfrm>
            <a:off x="6340666" y="1613404"/>
            <a:ext cx="5400000" cy="2118747"/>
          </a:xfrm>
          <a:prstGeom prst="roundRect">
            <a:avLst>
              <a:gd name="adj" fmla="val 7593"/>
            </a:avLst>
          </a:prstGeom>
          <a:solidFill>
            <a:srgbClr val="F2F2F2"/>
          </a:solidFill>
          <a:ln w="38100" cap="flat" cmpd="sng">
            <a:solidFill>
              <a:srgbClr val="77B0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Multi-Stage Retrieval Pipeline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three-stage retrieval framework is introduced: Stage 1: Visual similarity search with HNSW indexing; Stage 2: Textual relevance using BM25 and semantic similarity; Stage 3: Temporal reranking to enforce event continuity.</a:t>
            </a:r>
            <a:endParaRPr/>
          </a:p>
        </p:txBody>
      </p:sp>
      <p:sp>
        <p:nvSpPr>
          <p:cNvPr id="390" name="Google Shape;390;p4"/>
          <p:cNvSpPr/>
          <p:nvPr/>
        </p:nvSpPr>
        <p:spPr>
          <a:xfrm>
            <a:off x="489332" y="4141376"/>
            <a:ext cx="5400000" cy="2118747"/>
          </a:xfrm>
          <a:prstGeom prst="roundRect">
            <a:avLst>
              <a:gd name="adj" fmla="val 8392"/>
            </a:avLst>
          </a:prstGeom>
          <a:solidFill>
            <a:srgbClr val="F2F2F2"/>
          </a:solidFill>
          <a:ln w="38100" cap="flat" cmpd="sng">
            <a:solidFill>
              <a:srgbClr val="77B0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Temporal Context Aggregation Mechanism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temporal aggregation strategy leverages neighboring video segments to improve coherence and reduce retrieval noise.</a:t>
            </a:r>
            <a:endParaRPr dirty="0"/>
          </a:p>
        </p:txBody>
      </p:sp>
      <p:sp>
        <p:nvSpPr>
          <p:cNvPr id="391" name="Google Shape;391;p4"/>
          <p:cNvSpPr/>
          <p:nvPr/>
        </p:nvSpPr>
        <p:spPr>
          <a:xfrm>
            <a:off x="6302668" y="4141376"/>
            <a:ext cx="5400000" cy="2118747"/>
          </a:xfrm>
          <a:prstGeom prst="roundRect">
            <a:avLst>
              <a:gd name="adj" fmla="val 6394"/>
            </a:avLst>
          </a:prstGeom>
          <a:solidFill>
            <a:srgbClr val="F2F2F2"/>
          </a:solidFill>
          <a:ln w="38100" cap="flat" cmpd="sng">
            <a:solidFill>
              <a:srgbClr val="77B0A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 Image-Based Query Handling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By combining CLIP embeddings with LLaVA-generated semantic descriptions, the system effectively handles cropped or partial image queries.</a:t>
            </a:r>
            <a:endParaRPr dirty="0"/>
          </a:p>
        </p:txBody>
      </p:sp>
      <p:sp>
        <p:nvSpPr>
          <p:cNvPr id="392" name="Google Shape;392;p4"/>
          <p:cNvSpPr/>
          <p:nvPr/>
        </p:nvSpPr>
        <p:spPr>
          <a:xfrm>
            <a:off x="2946835" y="1373081"/>
            <a:ext cx="480646" cy="480646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"/>
          <p:cNvSpPr/>
          <p:nvPr/>
        </p:nvSpPr>
        <p:spPr>
          <a:xfrm>
            <a:off x="8800343" y="1364839"/>
            <a:ext cx="480646" cy="480646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"/>
          <p:cNvSpPr/>
          <p:nvPr/>
        </p:nvSpPr>
        <p:spPr>
          <a:xfrm>
            <a:off x="2949009" y="3901053"/>
            <a:ext cx="480646" cy="480646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4"/>
          <p:cNvSpPr/>
          <p:nvPr/>
        </p:nvSpPr>
        <p:spPr>
          <a:xfrm>
            <a:off x="8800343" y="3945214"/>
            <a:ext cx="480646" cy="480646"/>
          </a:xfrm>
          <a:prstGeom prst="ellipse">
            <a:avLst/>
          </a:prstGeom>
          <a:solidFill>
            <a:schemeClr val="bg2">
              <a:lumMod val="75000"/>
              <a:lumOff val="25000"/>
            </a:schemeClr>
          </a:solidFill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5"/>
          <p:cNvPicPr preferRelativeResize="0"/>
          <p:nvPr/>
        </p:nvPicPr>
        <p:blipFill rotWithShape="1">
          <a:blip r:embed="rId3">
            <a:alphaModFix/>
          </a:blip>
          <a:srcRect t="5936"/>
          <a:stretch/>
        </p:blipFill>
        <p:spPr>
          <a:xfrm>
            <a:off x="1387050" y="-1"/>
            <a:ext cx="10375182" cy="686663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"/>
          <p:cNvSpPr txBox="1"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Architecture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6"/>
          <p:cNvSpPr txBox="1">
            <a:spLocks noGrp="1"/>
          </p:cNvSpPr>
          <p:nvPr>
            <p:ph type="title"/>
          </p:nvPr>
        </p:nvSpPr>
        <p:spPr>
          <a:xfrm>
            <a:off x="406322" y="151030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00"/>
              <a:buFont typeface="Host Grotesk Medium"/>
              <a:buNone/>
            </a:pPr>
            <a:r>
              <a:rPr lang="en-US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Hierarchical Multimodal Evidence Selection</a:t>
            </a:r>
            <a:endParaRPr/>
          </a:p>
        </p:txBody>
      </p:sp>
      <p:sp>
        <p:nvSpPr>
          <p:cNvPr id="407" name="Google Shape;407;p6"/>
          <p:cNvSpPr/>
          <p:nvPr/>
        </p:nvSpPr>
        <p:spPr>
          <a:xfrm>
            <a:off x="239637" y="-534091"/>
            <a:ext cx="8632508" cy="552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8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Arial"/>
              <a:buNone/>
            </a:pPr>
            <a:endParaRPr sz="34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6"/>
          <p:cNvSpPr/>
          <p:nvPr/>
        </p:nvSpPr>
        <p:spPr>
          <a:xfrm>
            <a:off x="523552" y="1287079"/>
            <a:ext cx="9757586" cy="472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7037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350"/>
              <a:buFont typeface="Roboto"/>
              <a:buNone/>
            </a:pPr>
            <a:r>
              <a:rPr lang="en-US" sz="13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The framework employs a multi-stage retrieval strategy that progressively narrows candidate video segments, improving precision while maintaining high recall and minimizing false positives.</a:t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p6"/>
          <p:cNvGrpSpPr/>
          <p:nvPr/>
        </p:nvGrpSpPr>
        <p:grpSpPr>
          <a:xfrm>
            <a:off x="1055706" y="1328551"/>
            <a:ext cx="10080585" cy="5459382"/>
            <a:chOff x="935888" y="75823"/>
            <a:chExt cx="10080585" cy="5459382"/>
          </a:xfrm>
        </p:grpSpPr>
        <p:sp>
          <p:nvSpPr>
            <p:cNvPr id="410" name="Google Shape;410;p6"/>
            <p:cNvSpPr/>
            <p:nvPr/>
          </p:nvSpPr>
          <p:spPr>
            <a:xfrm>
              <a:off x="7936044" y="708540"/>
              <a:ext cx="3080429" cy="3080999"/>
            </a:xfrm>
            <a:prstGeom prst="ellipse">
              <a:avLst/>
            </a:prstGeom>
            <a:gradFill>
              <a:gsLst>
                <a:gs pos="0">
                  <a:srgbClr val="657D78"/>
                </a:gs>
                <a:gs pos="50000">
                  <a:srgbClr val="4C6D65"/>
                </a:gs>
                <a:gs pos="100000">
                  <a:srgbClr val="42605A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8038324" y="811258"/>
              <a:ext cx="2875870" cy="2875563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4E6C6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 txBox="1"/>
            <p:nvPr/>
          </p:nvSpPr>
          <p:spPr>
            <a:xfrm>
              <a:off x="8449449" y="1222130"/>
              <a:ext cx="2053619" cy="2053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30475" rIns="30475" bIns="304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ost Grotesk Medium"/>
                <a:buNone/>
              </a:pPr>
              <a:r>
                <a:rPr lang="en-US" sz="2400">
                  <a:solidFill>
                    <a:schemeClr val="dk1"/>
                  </a:solidFill>
                  <a:latin typeface="Host Grotesk Medium"/>
                  <a:ea typeface="Host Grotesk Medium"/>
                  <a:cs typeface="Host Grotesk Medium"/>
                  <a:sym typeface="Host Grotesk Medium"/>
                </a:rPr>
                <a:t>Temporal Context Aggregation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8038324" y="3846305"/>
              <a:ext cx="2875870" cy="16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 txBox="1"/>
            <p:nvPr/>
          </p:nvSpPr>
          <p:spPr>
            <a:xfrm>
              <a:off x="8038324" y="3846305"/>
              <a:ext cx="2875870" cy="16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boto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Event continuity analysis ensures coherent retrieval across time boundaries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6"/>
            <p:cNvSpPr/>
            <p:nvPr/>
          </p:nvSpPr>
          <p:spPr>
            <a:xfrm rot="2700000">
              <a:off x="4756042" y="712264"/>
              <a:ext cx="3073010" cy="3073010"/>
            </a:xfrm>
            <a:prstGeom prst="teardrop">
              <a:avLst>
                <a:gd name="adj" fmla="val 100000"/>
              </a:avLst>
            </a:prstGeom>
            <a:gradFill>
              <a:gsLst>
                <a:gs pos="0">
                  <a:srgbClr val="8AA476"/>
                </a:gs>
                <a:gs pos="50000">
                  <a:srgbClr val="7B9C60"/>
                </a:gs>
                <a:gs pos="100000">
                  <a:srgbClr val="6C8C53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4854612" y="811258"/>
              <a:ext cx="2875870" cy="2875563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7D9A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 txBox="1"/>
            <p:nvPr/>
          </p:nvSpPr>
          <p:spPr>
            <a:xfrm>
              <a:off x="5265737" y="1222130"/>
              <a:ext cx="2053619" cy="2053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30475" rIns="30475" bIns="304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ost Grotesk Medium"/>
                <a:buNone/>
              </a:pPr>
              <a:r>
                <a:rPr lang="en-US" sz="2400">
                  <a:solidFill>
                    <a:schemeClr val="dk1"/>
                  </a:solidFill>
                  <a:latin typeface="Host Grotesk Medium"/>
                  <a:ea typeface="Host Grotesk Medium"/>
                  <a:cs typeface="Host Grotesk Medium"/>
                  <a:sym typeface="Host Grotesk Medium"/>
                </a:rPr>
                <a:t>Semantic Relevance Filtering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4854612" y="3846305"/>
              <a:ext cx="2875870" cy="16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 txBox="1"/>
            <p:nvPr/>
          </p:nvSpPr>
          <p:spPr>
            <a:xfrm>
              <a:off x="4854612" y="3846305"/>
              <a:ext cx="2875870" cy="16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boto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Textual representation refine candidates based on semantic content alignment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6"/>
            <p:cNvSpPr/>
            <p:nvPr/>
          </p:nvSpPr>
          <p:spPr>
            <a:xfrm rot="2700000">
              <a:off x="1572329" y="712264"/>
              <a:ext cx="3073010" cy="3073010"/>
            </a:xfrm>
            <a:prstGeom prst="teardrop">
              <a:avLst>
                <a:gd name="adj" fmla="val 100000"/>
              </a:avLst>
            </a:prstGeom>
            <a:gradFill>
              <a:gsLst>
                <a:gs pos="0">
                  <a:srgbClr val="C19E98"/>
                </a:gs>
                <a:gs pos="50000">
                  <a:srgbClr val="BC9188"/>
                </a:gs>
                <a:gs pos="100000">
                  <a:srgbClr val="A77E75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1670899" y="811258"/>
              <a:ext cx="2875870" cy="2875563"/>
            </a:xfrm>
            <a:prstGeom prst="ellipse">
              <a:avLst/>
            </a:prstGeom>
            <a:solidFill>
              <a:schemeClr val="lt1">
                <a:alpha val="89803"/>
              </a:schemeClr>
            </a:solidFill>
            <a:ln w="9525" cap="flat" cmpd="sng">
              <a:solidFill>
                <a:srgbClr val="BA938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 txBox="1"/>
            <p:nvPr/>
          </p:nvSpPr>
          <p:spPr>
            <a:xfrm>
              <a:off x="2082024" y="1222130"/>
              <a:ext cx="2053619" cy="205381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0475" tIns="30475" rIns="30475" bIns="304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ost Grotesk Medium"/>
                <a:buNone/>
              </a:pPr>
              <a:r>
                <a:rPr lang="en-US" sz="2400">
                  <a:solidFill>
                    <a:schemeClr val="dk1"/>
                  </a:solidFill>
                  <a:latin typeface="Host Grotesk Medium"/>
                  <a:ea typeface="Host Grotesk Medium"/>
                  <a:cs typeface="Host Grotesk Medium"/>
                  <a:sym typeface="Host Grotesk Medium"/>
                </a:rPr>
                <a:t>Coarse-Grained Visual Similarity</a:t>
              </a: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1670899" y="3846305"/>
              <a:ext cx="2875870" cy="16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 txBox="1"/>
            <p:nvPr/>
          </p:nvSpPr>
          <p:spPr>
            <a:xfrm>
              <a:off x="1670899" y="3846305"/>
              <a:ext cx="2875870" cy="168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6200" tIns="76200" rIns="76200" bIns="7620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boto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Initial matching using visual embeddings to identify potentially relevant segments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7" descr="preencoded.png"/>
          <p:cNvPicPr preferRelativeResize="0"/>
          <p:nvPr/>
        </p:nvPicPr>
        <p:blipFill rotWithShape="1">
          <a:blip r:embed="rId3">
            <a:alphaModFix amt="70000"/>
          </a:blip>
          <a:srcRect t="7712" b="27139"/>
          <a:stretch/>
        </p:blipFill>
        <p:spPr>
          <a:xfrm>
            <a:off x="0" y="0"/>
            <a:ext cx="12192000" cy="1547446"/>
          </a:xfrm>
          <a:prstGeom prst="rect">
            <a:avLst/>
          </a:prstGeom>
          <a:gradFill>
            <a:gsLst>
              <a:gs pos="0">
                <a:srgbClr val="A7D3DF"/>
              </a:gs>
              <a:gs pos="62000">
                <a:srgbClr val="D8D8D8"/>
              </a:gs>
              <a:gs pos="100000">
                <a:srgbClr val="F2F2F2"/>
              </a:gs>
            </a:gsLst>
            <a:lin ang="5400000" scaled="0"/>
          </a:gradFill>
          <a:ln>
            <a:noFill/>
          </a:ln>
        </p:spPr>
      </p:pic>
      <p:sp>
        <p:nvSpPr>
          <p:cNvPr id="430" name="Google Shape;430;p7"/>
          <p:cNvSpPr/>
          <p:nvPr/>
        </p:nvSpPr>
        <p:spPr>
          <a:xfrm>
            <a:off x="157353" y="1542206"/>
            <a:ext cx="7185184" cy="678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56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Image-Based Query Support</a:t>
            </a:r>
            <a:endParaRPr/>
          </a:p>
        </p:txBody>
      </p:sp>
      <p:sp>
        <p:nvSpPr>
          <p:cNvPr id="431" name="Google Shape;431;p7"/>
          <p:cNvSpPr/>
          <p:nvPr/>
        </p:nvSpPr>
        <p:spPr>
          <a:xfrm>
            <a:off x="157353" y="2390900"/>
            <a:ext cx="11425047" cy="637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705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00"/>
              <a:buFont typeface="Roboto"/>
              <a:buNone/>
            </a:pPr>
            <a:r>
              <a:rPr lang="en-US" sz="17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This capability is critical for forensic scenarios where investigators possess only partial visual evidence—such as a cropped suspect photo or low-quality witness image—and need to locate relevant surveillance footage.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p7"/>
          <p:cNvGrpSpPr/>
          <p:nvPr/>
        </p:nvGrpSpPr>
        <p:grpSpPr>
          <a:xfrm>
            <a:off x="1044791" y="3546270"/>
            <a:ext cx="10102417" cy="2613684"/>
            <a:chOff x="6164" y="1231204"/>
            <a:chExt cx="9432562" cy="2613684"/>
          </a:xfrm>
        </p:grpSpPr>
        <p:sp>
          <p:nvSpPr>
            <p:cNvPr id="433" name="Google Shape;433;p7"/>
            <p:cNvSpPr/>
            <p:nvPr/>
          </p:nvSpPr>
          <p:spPr>
            <a:xfrm>
              <a:off x="6164" y="1231204"/>
              <a:ext cx="3288187" cy="131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D2A388"/>
                </a:gs>
                <a:gs pos="50000">
                  <a:srgbClr val="D19773"/>
                </a:gs>
                <a:gs pos="100000">
                  <a:srgbClr val="BD8561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7"/>
            <p:cNvSpPr txBox="1"/>
            <p:nvPr/>
          </p:nvSpPr>
          <p:spPr>
            <a:xfrm>
              <a:off x="663801" y="1231204"/>
              <a:ext cx="1972913" cy="13152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00" tIns="37325" rIns="37325" bIns="37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Host Grotesk Medium"/>
                <a:buNone/>
              </a:pPr>
              <a:r>
                <a:rPr lang="en-US" sz="2800">
                  <a:solidFill>
                    <a:schemeClr val="lt1"/>
                  </a:solidFill>
                  <a:latin typeface="Host Grotesk Medium"/>
                  <a:ea typeface="Host Grotesk Medium"/>
                  <a:cs typeface="Host Grotesk Medium"/>
                  <a:sym typeface="Host Grotesk Medium"/>
                </a:rPr>
                <a:t>Partial Image Input</a:t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7"/>
            <p:cNvSpPr/>
            <p:nvPr/>
          </p:nvSpPr>
          <p:spPr>
            <a:xfrm>
              <a:off x="6164" y="2710888"/>
              <a:ext cx="2630549" cy="11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7"/>
            <p:cNvSpPr txBox="1"/>
            <p:nvPr/>
          </p:nvSpPr>
          <p:spPr>
            <a:xfrm>
              <a:off x="6164" y="2710888"/>
              <a:ext cx="2630549" cy="11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boto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Accept cropped or incomplete visual evidence from investigations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7"/>
            <p:cNvSpPr/>
            <p:nvPr/>
          </p:nvSpPr>
          <p:spPr>
            <a:xfrm>
              <a:off x="3078352" y="1231204"/>
              <a:ext cx="3288187" cy="131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84B06C"/>
                </a:gs>
                <a:gs pos="50000">
                  <a:srgbClr val="75A953"/>
                </a:gs>
                <a:gs pos="100000">
                  <a:srgbClr val="659846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7"/>
            <p:cNvSpPr txBox="1"/>
            <p:nvPr/>
          </p:nvSpPr>
          <p:spPr>
            <a:xfrm>
              <a:off x="3735989" y="1231204"/>
              <a:ext cx="1972913" cy="13152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00" tIns="37325" rIns="37325" bIns="37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Host Grotesk Medium"/>
                <a:buNone/>
              </a:pPr>
              <a:r>
                <a:rPr lang="en-US" sz="2800" dirty="0">
                  <a:solidFill>
                    <a:schemeClr val="lt1"/>
                  </a:solidFill>
                  <a:latin typeface="Host Grotesk Medium"/>
                  <a:ea typeface="Host Grotesk Medium"/>
                  <a:cs typeface="Host Grotesk Medium"/>
                  <a:sym typeface="Host Grotesk Medium"/>
                </a:rPr>
                <a:t>LLaVA Description</a:t>
              </a:r>
              <a:endParaRPr sz="2800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7"/>
            <p:cNvSpPr/>
            <p:nvPr/>
          </p:nvSpPr>
          <p:spPr>
            <a:xfrm>
              <a:off x="3078352" y="2710888"/>
              <a:ext cx="2630549" cy="11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7"/>
            <p:cNvSpPr txBox="1"/>
            <p:nvPr/>
          </p:nvSpPr>
          <p:spPr>
            <a:xfrm>
              <a:off x="3078352" y="2710888"/>
              <a:ext cx="2630549" cy="11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boto"/>
                <a:buNone/>
              </a:pPr>
              <a:r>
                <a:rPr lang="en-US" sz="2000" b="0" i="0" u="none" strike="noStrike" cap="none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Generate rich semantic descriptions from visual inputs</a:t>
              </a:r>
              <a:endPara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7"/>
            <p:cNvSpPr/>
            <p:nvPr/>
          </p:nvSpPr>
          <p:spPr>
            <a:xfrm>
              <a:off x="6150539" y="1231204"/>
              <a:ext cx="3288187" cy="1315274"/>
            </a:xfrm>
            <a:prstGeom prst="chevron">
              <a:avLst>
                <a:gd name="adj" fmla="val 50000"/>
              </a:avLst>
            </a:prstGeom>
            <a:gradFill>
              <a:gsLst>
                <a:gs pos="0">
                  <a:srgbClr val="647B77"/>
                </a:gs>
                <a:gs pos="50000">
                  <a:srgbClr val="4B6B65"/>
                </a:gs>
                <a:gs pos="100000">
                  <a:srgbClr val="415E59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2745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7"/>
            <p:cNvSpPr txBox="1"/>
            <p:nvPr/>
          </p:nvSpPr>
          <p:spPr>
            <a:xfrm>
              <a:off x="6808176" y="1231204"/>
              <a:ext cx="1972913" cy="13152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12000" tIns="37325" rIns="37325" bIns="37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Host Grotesk Medium"/>
                <a:buNone/>
              </a:pPr>
              <a:r>
                <a:rPr lang="en-US" sz="2800">
                  <a:solidFill>
                    <a:schemeClr val="lt1"/>
                  </a:solidFill>
                  <a:latin typeface="Host Grotesk Medium"/>
                  <a:ea typeface="Host Grotesk Medium"/>
                  <a:cs typeface="Host Grotesk Medium"/>
                  <a:sym typeface="Host Grotesk Medium"/>
                </a:rPr>
                <a:t>Hybrid Retrieval</a:t>
              </a:r>
              <a:endParaRPr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7"/>
            <p:cNvSpPr/>
            <p:nvPr/>
          </p:nvSpPr>
          <p:spPr>
            <a:xfrm>
              <a:off x="6150539" y="2710888"/>
              <a:ext cx="2630549" cy="11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7"/>
            <p:cNvSpPr txBox="1"/>
            <p:nvPr/>
          </p:nvSpPr>
          <p:spPr>
            <a:xfrm>
              <a:off x="6150539" y="2710888"/>
              <a:ext cx="2630549" cy="113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228600" marR="0" lvl="1" indent="-2286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Roboto"/>
                <a:buNone/>
              </a:pPr>
              <a:r>
                <a:rPr lang="en-US" sz="2000" b="0" i="0" u="none" strike="noStrike" cap="none" dirty="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Combine visual and textual embeddings for robust matching</a:t>
              </a:r>
              <a:endParaRPr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8"/>
          <p:cNvPicPr preferRelativeResize="0"/>
          <p:nvPr/>
        </p:nvPicPr>
        <p:blipFill rotWithShape="1">
          <a:blip r:embed="rId3">
            <a:alphaModFix/>
          </a:blip>
          <a:srcRect l="23999" t="32597" r="-3735"/>
          <a:stretch/>
        </p:blipFill>
        <p:spPr>
          <a:xfrm>
            <a:off x="2897951" y="4083211"/>
            <a:ext cx="2989383" cy="1925165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8"/>
          <p:cNvSpPr txBox="1"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Some Visual Results</a:t>
            </a:r>
            <a:endParaRPr/>
          </a:p>
        </p:txBody>
      </p:sp>
      <p:pic>
        <p:nvPicPr>
          <p:cNvPr id="451" name="Google Shape;45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26281" y="1088934"/>
            <a:ext cx="1155065" cy="125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41214" y="3253546"/>
            <a:ext cx="4384675" cy="256159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8"/>
          <p:cNvSpPr txBox="1"/>
          <p:nvPr/>
        </p:nvSpPr>
        <p:spPr>
          <a:xfrm>
            <a:off x="6387727" y="1985704"/>
            <a:ext cx="20515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Query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8"/>
          <p:cNvSpPr txBox="1"/>
          <p:nvPr/>
        </p:nvSpPr>
        <p:spPr>
          <a:xfrm>
            <a:off x="9060457" y="2612003"/>
            <a:ext cx="18874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Retrieved Result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8"/>
          <p:cNvSpPr/>
          <p:nvPr/>
        </p:nvSpPr>
        <p:spPr>
          <a:xfrm>
            <a:off x="8806647" y="2612003"/>
            <a:ext cx="253810" cy="37513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45302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8"/>
          <p:cNvSpPr txBox="1"/>
          <p:nvPr/>
        </p:nvSpPr>
        <p:spPr>
          <a:xfrm>
            <a:off x="295428" y="1985704"/>
            <a:ext cx="48650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Query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Show me the abuse incident video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8"/>
          <p:cNvPicPr preferRelativeResize="0"/>
          <p:nvPr/>
        </p:nvPicPr>
        <p:blipFill rotWithShape="1">
          <a:blip r:embed="rId6">
            <a:alphaModFix/>
          </a:blip>
          <a:srcRect l="16364" t="33861" r="5843"/>
          <a:stretch/>
        </p:blipFill>
        <p:spPr>
          <a:xfrm>
            <a:off x="519478" y="3146928"/>
            <a:ext cx="2922420" cy="1724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8"/>
          <p:cNvPicPr preferRelativeResize="0"/>
          <p:nvPr/>
        </p:nvPicPr>
        <p:blipFill rotWithShape="1">
          <a:blip r:embed="rId7">
            <a:alphaModFix/>
          </a:blip>
          <a:srcRect l="21960" t="42917" r="404"/>
          <a:stretch/>
        </p:blipFill>
        <p:spPr>
          <a:xfrm>
            <a:off x="506442" y="5045794"/>
            <a:ext cx="2922421" cy="1681907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8"/>
          <p:cNvSpPr/>
          <p:nvPr/>
        </p:nvSpPr>
        <p:spPr>
          <a:xfrm>
            <a:off x="2633767" y="2612003"/>
            <a:ext cx="253810" cy="37513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F7F7F"/>
          </a:solidFill>
          <a:ln w="12700" cap="flat" cmpd="sng">
            <a:solidFill>
              <a:srgbClr val="45302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" name="Google Shape;460;p8"/>
          <p:cNvCxnSpPr/>
          <p:nvPr/>
        </p:nvCxnSpPr>
        <p:spPr>
          <a:xfrm>
            <a:off x="6166338" y="1365528"/>
            <a:ext cx="0" cy="511594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461" name="Google Shape;461;p8"/>
          <p:cNvSpPr txBox="1"/>
          <p:nvPr/>
        </p:nvSpPr>
        <p:spPr>
          <a:xfrm>
            <a:off x="3062688" y="2603598"/>
            <a:ext cx="18874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Retrieved Result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9"/>
          <p:cNvSpPr txBox="1">
            <a:spLocks noGrp="1"/>
          </p:cNvSpPr>
          <p:nvPr>
            <p:ph type="title"/>
          </p:nvPr>
        </p:nvSpPr>
        <p:spPr>
          <a:xfrm>
            <a:off x="339852" y="0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Evaluation Strategies</a:t>
            </a:r>
            <a:endParaRPr/>
          </a:p>
        </p:txBody>
      </p:sp>
      <p:sp>
        <p:nvSpPr>
          <p:cNvPr id="467" name="Google Shape;467;p9"/>
          <p:cNvSpPr/>
          <p:nvPr/>
        </p:nvSpPr>
        <p:spPr>
          <a:xfrm>
            <a:off x="339852" y="2380476"/>
            <a:ext cx="4689231" cy="2130552"/>
          </a:xfrm>
          <a:prstGeom prst="roundRect">
            <a:avLst>
              <a:gd name="adj" fmla="val 8964"/>
            </a:avLst>
          </a:prstGeom>
          <a:solidFill>
            <a:srgbClr val="EDDFD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 &amp; Setup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SurveillanceVQA-589K (Hugging Face)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Events: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Abuse, Robbery, Accident, Shooting, Explosion, Normal</a:t>
            </a:r>
            <a:endParaRPr/>
          </a:p>
        </p:txBody>
      </p:sp>
      <p:sp>
        <p:nvSpPr>
          <p:cNvPr id="468" name="Google Shape;468;p9"/>
          <p:cNvSpPr/>
          <p:nvPr/>
        </p:nvSpPr>
        <p:spPr>
          <a:xfrm>
            <a:off x="5345780" y="447587"/>
            <a:ext cx="6623597" cy="2799705"/>
          </a:xfrm>
          <a:prstGeom prst="roundRect">
            <a:avLst>
              <a:gd name="adj" fmla="val 6132"/>
            </a:avLst>
          </a:prstGeom>
          <a:solidFill>
            <a:srgbClr val="DBE3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Task 1: Abnormality Detection Accuracy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Evaluates whether the system correctly identifies the core abnormal event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Tested only on event-dependent QA pairs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Metric: Abnormality Hit Rate = Correct predictions / Total abnormality queries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Compared across: Visual-only retrieval vs Full VideoRAG (multi-stage retrieval)</a:t>
            </a:r>
            <a:endParaRPr/>
          </a:p>
        </p:txBody>
      </p:sp>
      <p:sp>
        <p:nvSpPr>
          <p:cNvPr id="469" name="Google Shape;469;p9"/>
          <p:cNvSpPr/>
          <p:nvPr/>
        </p:nvSpPr>
        <p:spPr>
          <a:xfrm>
            <a:off x="5345780" y="3610708"/>
            <a:ext cx="6623597" cy="2799705"/>
          </a:xfrm>
          <a:prstGeom prst="roundRect">
            <a:avLst>
              <a:gd name="adj" fmla="val 8067"/>
            </a:avLst>
          </a:prstGeom>
          <a:solidFill>
            <a:srgbClr val="CBDDD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 Task 2: LLM-as-Judge Answer Evaluation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Assesses reasoning quality beyond correctness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Scoring Dimensions (0–5)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Score: Avg = (CI + DO + CU + TU) / 4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Judge Setup: Local LLM (LLaMA 3.2 via Ollama), Deterministic scoring (temperature = 0)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CA6BF9-4C89-5F70-208E-AD280440979C}"/>
              </a:ext>
            </a:extLst>
          </p:cNvPr>
          <p:cNvSpPr txBox="1"/>
          <p:nvPr/>
        </p:nvSpPr>
        <p:spPr>
          <a:xfrm>
            <a:off x="0" y="6492215"/>
            <a:ext cx="96372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i="1" dirty="0"/>
              <a:t>Contextual Integration (CI), Detail Orientation (DO), Contextual Understanding (CU), Temporal Understanding (TU)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0"/>
          <p:cNvSpPr txBox="1">
            <a:spLocks noGrp="1"/>
          </p:cNvSpPr>
          <p:nvPr>
            <p:ph type="title"/>
          </p:nvPr>
        </p:nvSpPr>
        <p:spPr>
          <a:xfrm>
            <a:off x="429768" y="13835"/>
            <a:ext cx="10652760" cy="969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Evaluation Results</a:t>
            </a:r>
            <a:endParaRPr/>
          </a:p>
        </p:txBody>
      </p:sp>
      <p:graphicFrame>
        <p:nvGraphicFramePr>
          <p:cNvPr id="475" name="Google Shape;475;p10"/>
          <p:cNvGraphicFramePr/>
          <p:nvPr/>
        </p:nvGraphicFramePr>
        <p:xfrm>
          <a:off x="347908" y="1976804"/>
          <a:ext cx="5326050" cy="1483400"/>
        </p:xfrm>
        <a:graphic>
          <a:graphicData uri="http://schemas.openxmlformats.org/drawingml/2006/table">
            <a:tbl>
              <a:tblPr firstRow="1" bandRow="1">
                <a:noFill/>
                <a:tableStyleId>{28D6EE0C-4979-4748-9512-9D37684333B1}</a:tableStyleId>
              </a:tblPr>
              <a:tblGrid>
                <a:gridCol w="177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Metric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BE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Visual-Only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BE3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Video RAG (HMESF)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DBE3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Hit@1</a:t>
                      </a:r>
                      <a:endParaRPr sz="16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6.8%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24.3%</a:t>
                      </a:r>
                      <a:endParaRPr sz="16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Hit@3</a:t>
                      </a:r>
                      <a:endParaRPr sz="16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18.6%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36.2%</a:t>
                      </a:r>
                      <a:endParaRPr sz="16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Hit@5</a:t>
                      </a:r>
                      <a:endParaRPr sz="1600" u="none" strike="noStrike" cap="none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/>
                        <a:t>29.9%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/>
                        <a:t>45.2%</a:t>
                      </a:r>
                      <a:endParaRPr sz="1600" u="none" strike="noStrike" cap="none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76" name="Google Shape;476;p10"/>
          <p:cNvSpPr txBox="1"/>
          <p:nvPr/>
        </p:nvSpPr>
        <p:spPr>
          <a:xfrm>
            <a:off x="347908" y="3822718"/>
            <a:ext cx="532606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Takeaways - </a:t>
            </a: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+15.3% absolute gain</a:t>
            </a: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 Hit@5 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3.6× improvement at Hit@1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Pushes correct evidence higher in ranking Hierarchical retrieval 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Confirms effectiveness of: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Multimodal reranking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Temporal aggregation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Evidence filtering</a:t>
            </a:r>
            <a:endParaRPr dirty="0"/>
          </a:p>
        </p:txBody>
      </p:sp>
      <p:sp>
        <p:nvSpPr>
          <p:cNvPr id="477" name="Google Shape;477;p10"/>
          <p:cNvSpPr txBox="1"/>
          <p:nvPr/>
        </p:nvSpPr>
        <p:spPr>
          <a:xfrm>
            <a:off x="429768" y="1351441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1: Abnormality Detection Accuracy</a:t>
            </a:r>
            <a:endParaRPr/>
          </a:p>
        </p:txBody>
      </p:sp>
      <p:graphicFrame>
        <p:nvGraphicFramePr>
          <p:cNvPr id="478" name="Google Shape;478;p10"/>
          <p:cNvGraphicFramePr/>
          <p:nvPr>
            <p:extLst>
              <p:ext uri="{D42A27DB-BD31-4B8C-83A1-F6EECF244321}">
                <p14:modId xmlns:p14="http://schemas.microsoft.com/office/powerpoint/2010/main" val="3606472958"/>
              </p:ext>
            </p:extLst>
          </p:nvPr>
        </p:nvGraphicFramePr>
        <p:xfrm>
          <a:off x="6236677" y="1918189"/>
          <a:ext cx="5525200" cy="2382405"/>
        </p:xfrm>
        <a:graphic>
          <a:graphicData uri="http://schemas.openxmlformats.org/drawingml/2006/table">
            <a:tbl>
              <a:tblPr firstRow="1" bandRow="1">
                <a:noFill/>
                <a:tableStyleId>{AA181B35-9339-4F95-AE63-A99D65271CC2}</a:tableStyleId>
              </a:tblPr>
              <a:tblGrid>
                <a:gridCol w="1381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1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1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0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Model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BD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BD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Cause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BDDD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0" u="none" strike="noStrike" cap="none">
                          <a:solidFill>
                            <a:schemeClr val="dk1"/>
                          </a:solidFill>
                        </a:rPr>
                        <a:t>Result</a:t>
                      </a:r>
                      <a:endParaRPr/>
                    </a:p>
                  </a:txBody>
                  <a:tcPr marL="91450" marR="91450" marT="45725" marB="45725" anchor="ctr">
                    <a:solidFill>
                      <a:srgbClr val="CBDD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LLaVA-NeXT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2.11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1.96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1.65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LLaVA-OV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2.54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1.46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1.55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LLaVA-Video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2.76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1.52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1.81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VideoLLaMA3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2.01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1.75</a:t>
                      </a:r>
                      <a:endParaRPr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1.27</a:t>
                      </a: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latin typeface="Neue Haas Grotesk Text Pro"/>
                          <a:sym typeface="Arial"/>
                        </a:rPr>
                        <a:t>Video RAG (</a:t>
                      </a:r>
                      <a:r>
                        <a:rPr lang="en-IN" sz="1400" b="1" i="0" u="none" strike="noStrike" cap="none" dirty="0">
                          <a:solidFill>
                            <a:schemeClr val="dk1"/>
                          </a:solidFill>
                          <a:latin typeface="Neue Haas Grotesk Text Pro"/>
                          <a:ea typeface="Neue Haas Grotesk Text Pro"/>
                          <a:cs typeface="Neue Haas Grotesk Text Pro"/>
                          <a:sym typeface="Arial"/>
                        </a:rPr>
                        <a:t>HMESF)</a:t>
                      </a:r>
                      <a:endParaRPr sz="1400" b="1" i="0" u="none" strike="noStrike" cap="none" dirty="0">
                        <a:solidFill>
                          <a:schemeClr val="dk1"/>
                        </a:solidFill>
                        <a:latin typeface="Neue Haas Grotesk Text Pro"/>
                        <a:sym typeface="Arial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0" u="none" strike="noStrike" cap="none" dirty="0"/>
                        <a:t>2.65</a:t>
                      </a:r>
                      <a:endParaRPr sz="1400" b="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2.84</a:t>
                      </a: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2.61</a:t>
                      </a:r>
                      <a:endParaRPr sz="1400" u="none" strike="noStrike" cap="none" dirty="0"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79" name="Google Shape;479;p10"/>
          <p:cNvSpPr txBox="1"/>
          <p:nvPr/>
        </p:nvSpPr>
        <p:spPr>
          <a:xfrm>
            <a:off x="6236677" y="1351441"/>
            <a:ext cx="53260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2: LLM-as-Judge Answer Evaluation</a:t>
            </a:r>
            <a:endParaRPr/>
          </a:p>
        </p:txBody>
      </p:sp>
      <p:cxnSp>
        <p:nvCxnSpPr>
          <p:cNvPr id="480" name="Google Shape;480;p10"/>
          <p:cNvCxnSpPr/>
          <p:nvPr/>
        </p:nvCxnSpPr>
        <p:spPr>
          <a:xfrm>
            <a:off x="5955323" y="1351441"/>
            <a:ext cx="0" cy="511594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lgDash"/>
            <a:miter lim="800000"/>
            <a:headEnd type="none" w="sm" len="sm"/>
            <a:tailEnd type="none" w="sm" len="sm"/>
          </a:ln>
        </p:spPr>
      </p:cxnSp>
      <p:sp>
        <p:nvSpPr>
          <p:cNvPr id="481" name="Google Shape;481;p10"/>
          <p:cNvSpPr txBox="1"/>
          <p:nvPr/>
        </p:nvSpPr>
        <p:spPr>
          <a:xfrm>
            <a:off x="6096000" y="4397185"/>
            <a:ext cx="601133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Takeaways - </a:t>
            </a:r>
            <a:endParaRPr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0" indent="-285750">
              <a:buClr>
                <a:schemeClr val="dk1"/>
              </a:buClr>
              <a:buSzPts val="1600"/>
              <a:buFont typeface="Arial"/>
              <a:buChar char="•"/>
            </a:pPr>
            <a:r>
              <a:rPr lang="en-IN" sz="1600" dirty="0">
                <a:hlinkClick r:id="rId3"/>
              </a:rPr>
              <a:t>SurveillanceVQA-589K</a:t>
            </a:r>
            <a:r>
              <a:rPr lang="en-IN" sz="1600" dirty="0"/>
              <a:t>: </a:t>
            </a:r>
            <a:r>
              <a:rPr lang="en-US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Overall Performance Across All Question Types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+0.80 over strongest baseline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+1.34 on Result-based reasoning</a:t>
            </a:r>
            <a:endParaRPr dirty="0"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Gains in Temporal &amp; Causal Reasoning, Excels at: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progression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Cause → effect understanding</a:t>
            </a:r>
            <a:endParaRPr dirty="0"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Multi-segment reasoning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1"/>
          <p:cNvSpPr/>
          <p:nvPr/>
        </p:nvSpPr>
        <p:spPr>
          <a:xfrm>
            <a:off x="484345" y="363559"/>
            <a:ext cx="8885158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73437"/>
              </a:lnSpc>
              <a:spcBef>
                <a:spcPts val="0"/>
              </a:spcBef>
              <a:spcAft>
                <a:spcPts val="0"/>
              </a:spcAft>
              <a:buClr>
                <a:srgbClr val="2E3C4E"/>
              </a:buClr>
              <a:buSzPts val="3200"/>
              <a:buFont typeface="Host Grotesk Medium"/>
              <a:buNone/>
            </a:pPr>
            <a:r>
              <a:rPr lang="en-US" sz="3200">
                <a:solidFill>
                  <a:srgbClr val="2E3C4E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Expected Impact and Applications</a:t>
            </a:r>
            <a:endParaRPr/>
          </a:p>
        </p:txBody>
      </p:sp>
      <p:pic>
        <p:nvPicPr>
          <p:cNvPr id="488" name="Google Shape;488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4360" y="1208427"/>
            <a:ext cx="2367971" cy="236797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11"/>
          <p:cNvSpPr/>
          <p:nvPr/>
        </p:nvSpPr>
        <p:spPr>
          <a:xfrm>
            <a:off x="590728" y="40407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Host Grotesk Medium"/>
              <a:buNone/>
            </a:pPr>
            <a:r>
              <a:rPr lang="en-US" sz="2200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Forensic Investigation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1"/>
          <p:cNvSpPr/>
          <p:nvPr/>
        </p:nvSpPr>
        <p:spPr>
          <a:xfrm>
            <a:off x="484345" y="4531150"/>
            <a:ext cx="3048000" cy="136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Accelerate evidence discovery in criminal investigations through semantic search of archived surveillance footage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" name="Google Shape;491;p1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3216" y="1208427"/>
            <a:ext cx="2367971" cy="2367971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11"/>
          <p:cNvSpPr/>
          <p:nvPr/>
        </p:nvSpPr>
        <p:spPr>
          <a:xfrm>
            <a:off x="4774636" y="4040731"/>
            <a:ext cx="2945130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Host Grotesk Medium"/>
              <a:buNone/>
            </a:pPr>
            <a:r>
              <a:rPr lang="en-US" sz="2200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Real-Time Surveillance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/>
          <p:nvPr/>
        </p:nvSpPr>
        <p:spPr>
          <a:xfrm>
            <a:off x="4723142" y="4531150"/>
            <a:ext cx="3048119" cy="1700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Enable rapid incident detection and response in security operations centers managing large camera networks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4" name="Google Shape;494;p11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68439" y="1208427"/>
            <a:ext cx="2367971" cy="2367971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1"/>
          <p:cNvSpPr/>
          <p:nvPr/>
        </p:nvSpPr>
        <p:spPr>
          <a:xfrm>
            <a:off x="8834807" y="4040731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2200"/>
              <a:buFont typeface="Host Grotesk Medium"/>
              <a:buNone/>
            </a:pPr>
            <a:r>
              <a:rPr lang="en-US" sz="2200">
                <a:solidFill>
                  <a:srgbClr val="384653"/>
                </a:solidFill>
                <a:latin typeface="Host Grotesk Medium"/>
                <a:ea typeface="Host Grotesk Medium"/>
                <a:cs typeface="Host Grotesk Medium"/>
                <a:sym typeface="Host Grotesk Medium"/>
              </a:rPr>
              <a:t>Smart City Analytics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8728365" y="4531150"/>
            <a:ext cx="3048119" cy="1360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1428"/>
              </a:lnSpc>
              <a:spcBef>
                <a:spcPts val="0"/>
              </a:spcBef>
              <a:spcAft>
                <a:spcPts val="0"/>
              </a:spcAft>
              <a:buClr>
                <a:srgbClr val="384653"/>
              </a:buClr>
              <a:buSzPts val="1750"/>
              <a:buFont typeface="Roboto"/>
              <a:buNone/>
            </a:pPr>
            <a:r>
              <a:rPr lang="en-US" sz="17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Support urban planning and traffic management through queryable video intelligence infrastructure</a:t>
            </a:r>
            <a:endParaRPr sz="17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2"/>
          <p:cNvSpPr txBox="1"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502" name="Google Shape;502;p12"/>
          <p:cNvSpPr txBox="1">
            <a:spLocks noGrp="1"/>
          </p:cNvSpPr>
          <p:nvPr>
            <p:ph type="body" idx="1"/>
          </p:nvPr>
        </p:nvSpPr>
        <p:spPr>
          <a:xfrm>
            <a:off x="429768" y="3622673"/>
            <a:ext cx="7370064" cy="2231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Prepared by </a:t>
            </a:r>
            <a:endParaRPr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 b="1"/>
              <a:t>Mehul Jain (2023AD05022)</a:t>
            </a:r>
            <a:endParaRPr sz="2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rgbClr val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une">
  <a:themeElements>
    <a:clrScheme name="Dune">
      <a:dk1>
        <a:srgbClr val="131313"/>
      </a:dk1>
      <a:lt1>
        <a:srgbClr val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87ba5c36-b7cf-4793-bbc2-bd5b3a9f95ca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1035</Words>
  <Application>Microsoft Office PowerPoint</Application>
  <PresentationFormat>Widescreen</PresentationFormat>
  <Paragraphs>174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Roboto</vt:lpstr>
      <vt:lpstr>Arial</vt:lpstr>
      <vt:lpstr>Times New Roman</vt:lpstr>
      <vt:lpstr>Host Grotesk Medium</vt:lpstr>
      <vt:lpstr>Neue Haas Grotesk Text Pro</vt:lpstr>
      <vt:lpstr>Dune</vt:lpstr>
      <vt:lpstr>Dune</vt:lpstr>
      <vt:lpstr>RAG Framework for Effective Video query and Understanding</vt:lpstr>
      <vt:lpstr>Agenda</vt:lpstr>
      <vt:lpstr>PowerPoint Presentation</vt:lpstr>
      <vt:lpstr>Current Gap</vt:lpstr>
      <vt:lpstr>Our Contribution </vt:lpstr>
      <vt:lpstr>Architecture</vt:lpstr>
      <vt:lpstr>Hierarchical Multimodal Evidence Selection</vt:lpstr>
      <vt:lpstr>PowerPoint Presentation</vt:lpstr>
      <vt:lpstr>Some Visual Results</vt:lpstr>
      <vt:lpstr>Evaluation Strategies</vt:lpstr>
      <vt:lpstr>Evaluation Results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Mehul Jain</dc:creator>
  <cp:lastModifiedBy>Mehul Jain</cp:lastModifiedBy>
  <cp:revision>6</cp:revision>
  <dcterms:created xsi:type="dcterms:W3CDTF">2026-01-27T05:10:02Z</dcterms:created>
  <dcterms:modified xsi:type="dcterms:W3CDTF">2026-02-15T07:27:25Z</dcterms:modified>
</cp:coreProperties>
</file>